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68" r:id="rId3"/>
    <p:sldId id="271" r:id="rId4"/>
    <p:sldId id="272" r:id="rId5"/>
    <p:sldId id="273" r:id="rId6"/>
    <p:sldId id="257" r:id="rId7"/>
    <p:sldId id="258" r:id="rId8"/>
    <p:sldId id="262" r:id="rId9"/>
    <p:sldId id="261" r:id="rId10"/>
    <p:sldId id="260" r:id="rId11"/>
    <p:sldId id="264" r:id="rId12"/>
    <p:sldId id="274" r:id="rId13"/>
    <p:sldId id="270" r:id="rId14"/>
    <p:sldId id="265" r:id="rId15"/>
    <p:sldId id="266" r:id="rId16"/>
    <p:sldId id="267" r:id="rId17"/>
    <p:sldId id="269" r:id="rId18"/>
    <p:sldId id="26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94"/>
  </p:normalViewPr>
  <p:slideViewPr>
    <p:cSldViewPr snapToGrid="0">
      <p:cViewPr varScale="1">
        <p:scale>
          <a:sx n="121" d="100"/>
          <a:sy n="121" d="100"/>
        </p:scale>
        <p:origin x="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12/30/25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12/30/25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12/30/25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12/30/25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12/30/25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12/30/25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12/30/25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12/30/25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12/30/25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12/30/25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CFCB2-27F6-A94C-2924-0F96FD1DC1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Виртуальные сервера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96312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F53E00-0EA5-ABBB-7F92-1229E7C5F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05" y="1467068"/>
            <a:ext cx="3697671" cy="3252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B5DD69-DE54-DEBA-18FB-02813F530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538" y="1467068"/>
            <a:ext cx="6734504" cy="1050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E53522-BA0A-0416-699E-69E9F24ABE0C}"/>
              </a:ext>
            </a:extLst>
          </p:cNvPr>
          <p:cNvSpPr txBox="1"/>
          <p:nvPr/>
        </p:nvSpPr>
        <p:spPr>
          <a:xfrm>
            <a:off x="7392056" y="2569785"/>
            <a:ext cx="2187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ServerMetricsFact</a:t>
            </a:r>
            <a:endParaRPr lang="en-US" b="1" dirty="0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9FD55942-FFF5-DC97-854F-64C0489C01BA}"/>
              </a:ext>
            </a:extLst>
          </p:cNvPr>
          <p:cNvSpPr/>
          <p:nvPr/>
        </p:nvSpPr>
        <p:spPr>
          <a:xfrm>
            <a:off x="4519448" y="1786759"/>
            <a:ext cx="525518" cy="28377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5D6BAA-D4FB-1E86-F92A-FEFCD9DF3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830" y="3093535"/>
            <a:ext cx="6777212" cy="10502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4A4DD0-ACD2-E92B-5BA3-C101138BB4DE}"/>
              </a:ext>
            </a:extLst>
          </p:cNvPr>
          <p:cNvSpPr txBox="1"/>
          <p:nvPr/>
        </p:nvSpPr>
        <p:spPr>
          <a:xfrm>
            <a:off x="7000051" y="4298223"/>
            <a:ext cx="2971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ServerMetricsPredictions</a:t>
            </a:r>
            <a:endParaRPr lang="en-US" b="1" dirty="0"/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1B552A07-A1AB-33F7-70B0-A191424E9257}"/>
              </a:ext>
            </a:extLst>
          </p:cNvPr>
          <p:cNvSpPr/>
          <p:nvPr/>
        </p:nvSpPr>
        <p:spPr>
          <a:xfrm>
            <a:off x="10415752" y="4482889"/>
            <a:ext cx="1156138" cy="1423925"/>
          </a:xfrm>
          <a:prstGeom prst="ca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6D3BDE-4820-085F-8EBE-4F2D0B8E7F65}"/>
              </a:ext>
            </a:extLst>
          </p:cNvPr>
          <p:cNvSpPr txBox="1"/>
          <p:nvPr/>
        </p:nvSpPr>
        <p:spPr>
          <a:xfrm>
            <a:off x="10520855" y="5021600"/>
            <a:ext cx="1227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Postgres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FD422F-0DE1-999E-7BC4-0415D65B5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598" y="4787463"/>
            <a:ext cx="4897074" cy="1518744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04D84067-05C7-5A46-1786-77EF43347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7463" y="262380"/>
            <a:ext cx="4897074" cy="1050270"/>
          </a:xfrm>
        </p:spPr>
        <p:txBody>
          <a:bodyPr>
            <a:normAutofit/>
          </a:bodyPr>
          <a:lstStyle/>
          <a:p>
            <a:r>
              <a:rPr lang="ru-RU" sz="4000" b="1" dirty="0"/>
              <a:t>Данные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298336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89D54-99E0-980B-D6F9-9E040B8F7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Правила </a:t>
            </a:r>
            <a:r>
              <a:rPr lang="ru-RU" b="1" dirty="0" err="1"/>
              <a:t>Алертов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33A48-D4B5-E685-D3D9-B2648AA6F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522430"/>
            <a:ext cx="7963898" cy="361561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Загруженный сервер</a:t>
            </a:r>
            <a:br>
              <a:rPr lang="ru-RU" dirty="0"/>
            </a:br>
            <a:r>
              <a:rPr lang="ru-RU" dirty="0"/>
              <a:t>Сервер загружен, если более </a:t>
            </a:r>
            <a:r>
              <a:rPr lang="ru-RU" dirty="0">
                <a:solidFill>
                  <a:srgbClr val="1750EB"/>
                </a:solidFill>
                <a:effectLst/>
              </a:rPr>
              <a:t>20</a:t>
            </a:r>
            <a:r>
              <a:rPr lang="ru-RU" dirty="0"/>
              <a:t>% времени (из </a:t>
            </a:r>
            <a:r>
              <a:rPr lang="ru-RU" dirty="0">
                <a:solidFill>
                  <a:srgbClr val="1750EB"/>
                </a:solidFill>
                <a:effectLst/>
              </a:rPr>
              <a:t>336 </a:t>
            </a:r>
            <a:r>
              <a:rPr lang="ru-RU" dirty="0"/>
              <a:t>интервалов) хотя бы одна метрика превышает пороги:</a:t>
            </a:r>
            <a:br>
              <a:rPr lang="ru-RU" dirty="0"/>
            </a:br>
            <a:r>
              <a:rPr lang="ru-RU" dirty="0"/>
              <a:t>а) среднее использование </a:t>
            </a:r>
            <a:r>
              <a:rPr lang="en-US" dirty="0"/>
              <a:t>CPU &gt;</a:t>
            </a:r>
            <a:r>
              <a:rPr lang="en-US" dirty="0">
                <a:solidFill>
                  <a:srgbClr val="1750EB"/>
                </a:solidFill>
                <a:effectLst/>
              </a:rPr>
              <a:t>85</a:t>
            </a:r>
            <a:r>
              <a:rPr lang="en-US" dirty="0"/>
              <a:t>%;  *(</a:t>
            </a:r>
            <a:r>
              <a:rPr lang="en-US" dirty="0" err="1"/>
              <a:t>cpu.usage.average</a:t>
            </a:r>
            <a:r>
              <a:rPr lang="en-US" dirty="0"/>
              <a:t>)*</a:t>
            </a:r>
            <a:br>
              <a:rPr lang="en-US" dirty="0"/>
            </a:br>
            <a:r>
              <a:rPr lang="ru-RU" dirty="0"/>
              <a:t>б) среднее использование памяти &gt;</a:t>
            </a:r>
            <a:r>
              <a:rPr lang="ru-RU" dirty="0">
                <a:solidFill>
                  <a:srgbClr val="1750EB"/>
                </a:solidFill>
                <a:effectLst/>
              </a:rPr>
              <a:t>80</a:t>
            </a:r>
            <a:r>
              <a:rPr lang="ru-RU" dirty="0"/>
              <a:t>%;  *(</a:t>
            </a:r>
            <a:r>
              <a:rPr lang="en-US" dirty="0" err="1"/>
              <a:t>mem.usage.average</a:t>
            </a:r>
            <a:r>
              <a:rPr lang="en-US" dirty="0"/>
              <a:t>)*</a:t>
            </a:r>
            <a:br>
              <a:rPr lang="en-US" dirty="0"/>
            </a:br>
            <a:r>
              <a:rPr lang="ru-RU" dirty="0"/>
              <a:t>в) сумма времени ожидания </a:t>
            </a:r>
            <a:r>
              <a:rPr lang="en-US" dirty="0"/>
              <a:t>CPU &gt;</a:t>
            </a:r>
            <a:r>
              <a:rPr lang="en-US" dirty="0">
                <a:solidFill>
                  <a:srgbClr val="1750EB"/>
                </a:solidFill>
                <a:effectLst/>
              </a:rPr>
              <a:t>10</a:t>
            </a:r>
            <a:r>
              <a:rPr lang="en-US" dirty="0"/>
              <a:t>% (</a:t>
            </a:r>
            <a:r>
              <a:rPr lang="ru-RU" dirty="0"/>
              <a:t>в топ-</a:t>
            </a:r>
            <a:r>
              <a:rPr lang="ru-RU" dirty="0">
                <a:solidFill>
                  <a:srgbClr val="1750EB"/>
                </a:solidFill>
                <a:effectLst/>
              </a:rPr>
              <a:t>20</a:t>
            </a:r>
            <a:r>
              <a:rPr lang="ru-RU" dirty="0"/>
              <a:t>% пиковых интервалов). *(</a:t>
            </a:r>
            <a:r>
              <a:rPr lang="en-US" dirty="0" err="1"/>
              <a:t>cpu.ready.summation</a:t>
            </a:r>
            <a:r>
              <a:rPr lang="en-US" dirty="0"/>
              <a:t>)*</a:t>
            </a:r>
            <a:br>
              <a:rPr lang="en-US" dirty="0"/>
            </a:br>
            <a:br>
              <a:rPr lang="en-US" dirty="0"/>
            </a:br>
            <a:r>
              <a:rPr lang="ru-RU" b="1" dirty="0"/>
              <a:t>Простаивающий сервер</a:t>
            </a:r>
            <a:br>
              <a:rPr lang="ru-RU" dirty="0"/>
            </a:br>
            <a:r>
              <a:rPr lang="ru-RU" dirty="0"/>
              <a:t>Сервер простаивает, если более </a:t>
            </a:r>
            <a:r>
              <a:rPr lang="ru-RU" dirty="0">
                <a:solidFill>
                  <a:srgbClr val="1750EB"/>
                </a:solidFill>
                <a:effectLst/>
              </a:rPr>
              <a:t>80</a:t>
            </a:r>
            <a:r>
              <a:rPr lang="ru-RU" dirty="0"/>
              <a:t>% времени все метрики ниже порогов:</a:t>
            </a:r>
            <a:br>
              <a:rPr lang="ru-RU" dirty="0"/>
            </a:br>
            <a:r>
              <a:rPr lang="ru-RU" dirty="0">
                <a:solidFill>
                  <a:srgbClr val="000000"/>
                </a:solidFill>
                <a:effectLst/>
              </a:rPr>
              <a:t>а</a:t>
            </a:r>
            <a:r>
              <a:rPr lang="ru-RU" dirty="0"/>
              <a:t>) среднее использование </a:t>
            </a:r>
            <a:r>
              <a:rPr lang="en-US" dirty="0"/>
              <a:t>CPU &lt;</a:t>
            </a:r>
            <a:r>
              <a:rPr lang="en-US" dirty="0">
                <a:solidFill>
                  <a:srgbClr val="1750EB"/>
                </a:solidFill>
                <a:effectLst/>
              </a:rPr>
              <a:t>15</a:t>
            </a:r>
            <a:r>
              <a:rPr lang="en-US" dirty="0"/>
              <a:t>%; *(</a:t>
            </a:r>
            <a:r>
              <a:rPr lang="en-US" dirty="0" err="1"/>
              <a:t>cpu.usage.average</a:t>
            </a:r>
            <a:r>
              <a:rPr lang="en-US" dirty="0"/>
              <a:t>)*</a:t>
            </a:r>
            <a:br>
              <a:rPr lang="en-US" dirty="0"/>
            </a:br>
            <a:r>
              <a:rPr lang="ru-RU" dirty="0"/>
              <a:t>б) среднее использование памяти &lt;</a:t>
            </a:r>
            <a:r>
              <a:rPr lang="ru-RU" dirty="0">
                <a:solidFill>
                  <a:srgbClr val="1750EB"/>
                </a:solidFill>
                <a:effectLst/>
              </a:rPr>
              <a:t>25</a:t>
            </a:r>
            <a:r>
              <a:rPr lang="ru-RU" dirty="0"/>
              <a:t>%; *(</a:t>
            </a:r>
            <a:r>
              <a:rPr lang="en-US" dirty="0" err="1"/>
              <a:t>mem.usage.average</a:t>
            </a:r>
            <a:r>
              <a:rPr lang="en-US" dirty="0"/>
              <a:t>)*</a:t>
            </a:r>
            <a:br>
              <a:rPr lang="en-US" dirty="0"/>
            </a:br>
            <a:r>
              <a:rPr lang="ru-RU" dirty="0"/>
              <a:t>в) среднее использование сети &lt;</a:t>
            </a:r>
            <a:r>
              <a:rPr lang="ru-RU" dirty="0">
                <a:solidFill>
                  <a:srgbClr val="1750EB"/>
                </a:solidFill>
                <a:effectLst/>
              </a:rPr>
              <a:t>5</a:t>
            </a:r>
            <a:r>
              <a:rPr lang="ru-RU" dirty="0"/>
              <a:t>% от ёмкости; *(</a:t>
            </a:r>
            <a:r>
              <a:rPr lang="en-US" dirty="0" err="1"/>
              <a:t>net.usage.average</a:t>
            </a:r>
            <a:r>
              <a:rPr lang="en-US" dirty="0"/>
              <a:t>)*</a:t>
            </a:r>
            <a:br>
              <a:rPr lang="en-US" dirty="0"/>
            </a:br>
            <a:br>
              <a:rPr lang="en-US" dirty="0"/>
            </a:br>
            <a:r>
              <a:rPr lang="ru-RU" b="1" dirty="0"/>
              <a:t>Нормальная работа сервера</a:t>
            </a:r>
            <a:br>
              <a:rPr lang="ru-RU" dirty="0"/>
            </a:br>
            <a:r>
              <a:rPr lang="ru-RU" dirty="0"/>
              <a:t>Нормальная работа серверов (оптимизированная настройка ресурсов) все метрики входят в эти диапазоны</a:t>
            </a:r>
            <a:br>
              <a:rPr lang="ru-RU" dirty="0"/>
            </a:br>
            <a:r>
              <a:rPr lang="en-US" dirty="0"/>
              <a:t>a) </a:t>
            </a:r>
            <a:r>
              <a:rPr lang="ru-RU" dirty="0"/>
              <a:t>среднее </a:t>
            </a:r>
            <a:r>
              <a:rPr lang="ru-RU" dirty="0" err="1"/>
              <a:t>использрвание</a:t>
            </a:r>
            <a:r>
              <a:rPr lang="ru-RU" dirty="0"/>
              <a:t> </a:t>
            </a:r>
            <a:r>
              <a:rPr lang="en-US" dirty="0"/>
              <a:t>CPU </a:t>
            </a:r>
            <a:r>
              <a:rPr lang="ru-RU" dirty="0"/>
              <a:t>от </a:t>
            </a:r>
            <a:r>
              <a:rPr lang="ru-RU" dirty="0">
                <a:solidFill>
                  <a:srgbClr val="1750EB"/>
                </a:solidFill>
                <a:effectLst/>
              </a:rPr>
              <a:t>15 </a:t>
            </a:r>
            <a:r>
              <a:rPr lang="ru-RU" dirty="0"/>
              <a:t>до </a:t>
            </a:r>
            <a:r>
              <a:rPr lang="ru-RU" dirty="0">
                <a:solidFill>
                  <a:srgbClr val="1750EB"/>
                </a:solidFill>
                <a:effectLst/>
              </a:rPr>
              <a:t>85</a:t>
            </a:r>
            <a:r>
              <a:rPr lang="ru-RU" dirty="0"/>
              <a:t>%; *(</a:t>
            </a:r>
            <a:r>
              <a:rPr lang="en-US" dirty="0" err="1"/>
              <a:t>cpu.usage.average</a:t>
            </a:r>
            <a:r>
              <a:rPr lang="en-US" dirty="0"/>
              <a:t>)*</a:t>
            </a:r>
            <a:br>
              <a:rPr lang="en-US" dirty="0"/>
            </a:br>
            <a:r>
              <a:rPr lang="ru-RU" dirty="0"/>
              <a:t>б) </a:t>
            </a:r>
            <a:r>
              <a:rPr lang="ru-RU" dirty="0" err="1"/>
              <a:t>среденее</a:t>
            </a:r>
            <a:r>
              <a:rPr lang="ru-RU" dirty="0"/>
              <a:t> использование памяти от </a:t>
            </a:r>
            <a:r>
              <a:rPr lang="ru-RU" dirty="0">
                <a:solidFill>
                  <a:srgbClr val="1750EB"/>
                </a:solidFill>
                <a:effectLst/>
              </a:rPr>
              <a:t>25 </a:t>
            </a:r>
            <a:r>
              <a:rPr lang="ru-RU" dirty="0"/>
              <a:t>до </a:t>
            </a:r>
            <a:r>
              <a:rPr lang="ru-RU" dirty="0">
                <a:solidFill>
                  <a:srgbClr val="1750EB"/>
                </a:solidFill>
                <a:effectLst/>
              </a:rPr>
              <a:t>85</a:t>
            </a:r>
            <a:r>
              <a:rPr lang="ru-RU" dirty="0"/>
              <a:t>%; *(</a:t>
            </a:r>
            <a:r>
              <a:rPr lang="en-US" dirty="0" err="1"/>
              <a:t>mem.usage.average</a:t>
            </a:r>
            <a:r>
              <a:rPr lang="en-US" dirty="0"/>
              <a:t>)*</a:t>
            </a:r>
            <a:br>
              <a:rPr lang="en-US" dirty="0"/>
            </a:br>
            <a:r>
              <a:rPr lang="ru-RU" dirty="0"/>
              <a:t>в) среднее использование сети от </a:t>
            </a:r>
            <a:r>
              <a:rPr lang="ru-RU" dirty="0">
                <a:solidFill>
                  <a:srgbClr val="1750EB"/>
                </a:solidFill>
                <a:effectLst/>
              </a:rPr>
              <a:t>6 </a:t>
            </a:r>
            <a:r>
              <a:rPr lang="ru-RU" dirty="0"/>
              <a:t>до </a:t>
            </a:r>
            <a:r>
              <a:rPr lang="ru-RU" dirty="0">
                <a:solidFill>
                  <a:srgbClr val="1750EB"/>
                </a:solidFill>
                <a:effectLst/>
              </a:rPr>
              <a:t>85</a:t>
            </a:r>
            <a:r>
              <a:rPr lang="ru-RU" dirty="0"/>
              <a:t>% от ёмкости; *(</a:t>
            </a:r>
            <a:r>
              <a:rPr lang="en-US" dirty="0" err="1"/>
              <a:t>net.usage.average</a:t>
            </a:r>
            <a:r>
              <a:rPr lang="en-US" dirty="0"/>
              <a:t>)*</a:t>
            </a:r>
          </a:p>
        </p:txBody>
      </p:sp>
    </p:spTree>
    <p:extLst>
      <p:ext uri="{BB962C8B-B14F-4D97-AF65-F5344CB8AC3E}">
        <p14:creationId xmlns:p14="http://schemas.microsoft.com/office/powerpoint/2010/main" val="794204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502AE-59C8-984F-D4BC-78BB2D30B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139" y="152116"/>
            <a:ext cx="3922330" cy="655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123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1CCFD-15EC-7E1E-F78A-A3A909B4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ru-RU" dirty="0"/>
              <a:t>Как Спрогнозировать нагрузку?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969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F75E8-6EB5-9A64-CAB4-B123D433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Prophet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BF2AE-DAE7-6307-9844-BF3113F01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5"/>
            <a:ext cx="7729728" cy="3095538"/>
          </a:xfrm>
        </p:spPr>
        <p:txBody>
          <a:bodyPr/>
          <a:lstStyle/>
          <a:p>
            <a:pPr marL="0" indent="0">
              <a:buNone/>
            </a:pPr>
            <a:r>
              <a:rPr lang="en-US" b="1" i="0" dirty="0">
                <a:solidFill>
                  <a:schemeClr val="tx1"/>
                </a:solidFill>
                <a:effectLst/>
                <a:latin typeface="quote-cjk-patch"/>
              </a:rPr>
              <a:t>Prophet</a:t>
            </a:r>
            <a:r>
              <a:rPr lang="en-US" b="0" i="0" dirty="0">
                <a:solidFill>
                  <a:schemeClr val="tx1"/>
                </a:solidFill>
                <a:effectLst/>
                <a:latin typeface="quote-cjk-patch"/>
              </a:rPr>
              <a:t> — 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мощная библиотека для прогнозирования </a:t>
            </a: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временных рядов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, разработанная </a:t>
            </a:r>
            <a:r>
              <a:rPr lang="en-US" b="1" i="0" dirty="0">
                <a:solidFill>
                  <a:schemeClr val="tx1"/>
                </a:solidFill>
                <a:effectLst/>
                <a:latin typeface="quote-cjk-patch"/>
              </a:rPr>
              <a:t>Facebook (Meta)</a:t>
            </a:r>
            <a:r>
              <a:rPr lang="en-US" i="0" dirty="0">
                <a:solidFill>
                  <a:schemeClr val="tx1"/>
                </a:solidFill>
                <a:effectLst/>
                <a:latin typeface="quote-cjk-patch"/>
              </a:rPr>
              <a:t>. </a:t>
            </a:r>
            <a:endParaRPr lang="ru-RU" i="0" dirty="0">
              <a:solidFill>
                <a:schemeClr val="tx1"/>
              </a:solidFill>
              <a:effectLst/>
              <a:latin typeface="quote-cjk-patch"/>
            </a:endParaRPr>
          </a:p>
          <a:p>
            <a:pPr marL="0" indent="0">
              <a:buNone/>
            </a:pPr>
            <a:r>
              <a:rPr lang="ru-RU" b="1" dirty="0">
                <a:solidFill>
                  <a:schemeClr val="tx1"/>
                </a:solidFill>
                <a:latin typeface="quote-cjk-patch"/>
              </a:rPr>
              <a:t>Преимущества</a:t>
            </a:r>
            <a:r>
              <a:rPr lang="en-US" b="1" dirty="0">
                <a:solidFill>
                  <a:schemeClr val="tx1"/>
                </a:solidFill>
                <a:latin typeface="quote-cjk-patch"/>
              </a:rPr>
              <a:t>:</a:t>
            </a:r>
            <a:endParaRPr lang="ru-RU" b="1" dirty="0">
              <a:solidFill>
                <a:schemeClr val="tx1"/>
              </a:solidFill>
              <a:latin typeface="quote-cjk-patch"/>
            </a:endParaRPr>
          </a:p>
          <a:p>
            <a:pPr>
              <a:buFontTx/>
              <a:buChar char="-"/>
            </a:pP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Устойчива к «грязным» данным, пропускам</a:t>
            </a:r>
          </a:p>
          <a:p>
            <a:pPr>
              <a:buFontTx/>
              <a:buChar char="-"/>
            </a:pP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Хорошо работает </a:t>
            </a:r>
            <a:r>
              <a:rPr lang="ru-RU" dirty="0">
                <a:solidFill>
                  <a:schemeClr val="tx1"/>
                </a:solidFill>
                <a:latin typeface="quote-cjk-patch"/>
              </a:rPr>
              <a:t>на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 сезонных данных</a:t>
            </a:r>
            <a:endParaRPr lang="en-US" b="0" i="0" dirty="0">
              <a:solidFill>
                <a:schemeClr val="tx1"/>
              </a:solidFill>
              <a:effectLst/>
              <a:latin typeface="quote-cjk-patch"/>
            </a:endParaRPr>
          </a:p>
          <a:p>
            <a:pPr>
              <a:buFontTx/>
              <a:buChar char="-"/>
            </a:pPr>
            <a:r>
              <a:rPr lang="ru-RU" dirty="0">
                <a:solidFill>
                  <a:schemeClr val="tx1"/>
                </a:solidFill>
                <a:latin typeface="quote-cjk-patch"/>
              </a:rPr>
              <a:t>Встроенные инструменты для валидации и визуализации</a:t>
            </a:r>
          </a:p>
        </p:txBody>
      </p:sp>
      <p:pic>
        <p:nvPicPr>
          <p:cNvPr id="1030" name="Picture 6" descr="Meta Logo and symbol, meaning, history, PNG">
            <a:extLst>
              <a:ext uri="{FF2B5EF4-FFF2-40B4-BE49-F238E27FC236}">
                <a16:creationId xmlns:a16="http://schemas.microsoft.com/office/drawing/2014/main" id="{C929AEEA-A02E-E143-BF7A-5CAADCCCE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680" y="5654565"/>
            <a:ext cx="2888640" cy="162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028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97359-078F-4B08-12E2-BC3D221E2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2878" y="599089"/>
            <a:ext cx="7806243" cy="1323095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Что делает модель </a:t>
            </a:r>
            <a:r>
              <a:rPr lang="en-US" sz="4000" dirty="0"/>
              <a:t>Prophet?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CA520-EA7A-E89A-A249-1F4AD4EC0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2878" y="2522431"/>
            <a:ext cx="8149301" cy="3100604"/>
          </a:xfrm>
        </p:spPr>
        <p:txBody>
          <a:bodyPr>
            <a:normAutofit fontScale="62500" lnSpcReduction="20000"/>
          </a:bodyPr>
          <a:lstStyle/>
          <a:p>
            <a:pPr marL="0" indent="0"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900" b="1" dirty="0">
                <a:solidFill>
                  <a:schemeClr val="tx1"/>
                </a:solidFill>
                <a:latin typeface="quote-cjk-patch"/>
              </a:rPr>
              <a:t>Prophet</a:t>
            </a:r>
            <a:r>
              <a:rPr lang="en-US" sz="2900" dirty="0">
                <a:solidFill>
                  <a:schemeClr val="tx1"/>
                </a:solidFill>
                <a:latin typeface="quote-cjk-patch"/>
              </a:rPr>
              <a:t> —</a:t>
            </a:r>
            <a:r>
              <a:rPr lang="ru-RU" sz="2900" dirty="0">
                <a:solidFill>
                  <a:schemeClr val="tx1"/>
                </a:solidFill>
                <a:latin typeface="quote-cjk-patch"/>
              </a:rPr>
              <a:t> </a:t>
            </a:r>
            <a:r>
              <a:rPr lang="ru-RU" sz="2900" b="1" dirty="0">
                <a:solidFill>
                  <a:schemeClr val="tx1"/>
                </a:solidFill>
                <a:latin typeface="quote-cjk-patch"/>
              </a:rPr>
              <a:t>аддитивная модель</a:t>
            </a:r>
            <a:r>
              <a:rPr lang="ru-RU" sz="2900" dirty="0">
                <a:solidFill>
                  <a:schemeClr val="tx1"/>
                </a:solidFill>
                <a:latin typeface="quote-cjk-patch"/>
              </a:rPr>
              <a:t>, которая декомпозирует временной ряд на три основные компоненты: </a:t>
            </a:r>
            <a:r>
              <a:rPr lang="en-US" sz="2900" b="1" dirty="0">
                <a:solidFill>
                  <a:schemeClr val="tx1"/>
                </a:solidFill>
                <a:latin typeface="quote-cjk-patch"/>
              </a:rPr>
              <a:t>y(t) = g(t) + s(t) + h(t) + </a:t>
            </a:r>
            <a:r>
              <a:rPr lang="el-GR" sz="2900" b="1" dirty="0">
                <a:solidFill>
                  <a:schemeClr val="tx1"/>
                </a:solidFill>
                <a:latin typeface="quote-cjk-patch"/>
              </a:rPr>
              <a:t>ε</a:t>
            </a:r>
            <a:r>
              <a:rPr lang="en-US" sz="2900" b="1" dirty="0">
                <a:solidFill>
                  <a:schemeClr val="tx1"/>
                </a:solidFill>
                <a:latin typeface="quote-cjk-patch"/>
              </a:rPr>
              <a:t>ₜ</a:t>
            </a:r>
            <a:r>
              <a:rPr lang="ru-RU" sz="2900" dirty="0">
                <a:solidFill>
                  <a:schemeClr val="tx1"/>
                </a:solidFill>
                <a:latin typeface="quote-cjk-patch"/>
              </a:rPr>
              <a:t>: </a:t>
            </a:r>
            <a:r>
              <a:rPr lang="en-US" sz="2900" b="1" dirty="0">
                <a:solidFill>
                  <a:schemeClr val="tx1"/>
                </a:solidFill>
                <a:latin typeface="quote-cjk-patch"/>
              </a:rPr>
              <a:t>g(t)</a:t>
            </a:r>
            <a:r>
              <a:rPr lang="en-US" sz="2900" dirty="0">
                <a:solidFill>
                  <a:schemeClr val="tx1"/>
                </a:solidFill>
                <a:latin typeface="quote-cjk-patch"/>
              </a:rPr>
              <a:t> — </a:t>
            </a:r>
            <a:r>
              <a:rPr lang="ru-RU" sz="2900" b="1" dirty="0">
                <a:solidFill>
                  <a:schemeClr val="tx1"/>
                </a:solidFill>
                <a:latin typeface="quote-cjk-patch"/>
              </a:rPr>
              <a:t>Тренд</a:t>
            </a:r>
            <a:r>
              <a:rPr lang="ru-RU" sz="2900" dirty="0">
                <a:solidFill>
                  <a:schemeClr val="tx1"/>
                </a:solidFill>
                <a:latin typeface="quote-cjk-patch"/>
              </a:rPr>
              <a:t>: Моделирует непериодические изменения (рост, спад, точки изменения тренда). </a:t>
            </a:r>
            <a:r>
              <a:rPr lang="en-US" sz="2900" dirty="0">
                <a:solidFill>
                  <a:schemeClr val="tx1"/>
                </a:solidFill>
                <a:latin typeface="quote-cjk-patch"/>
              </a:rPr>
              <a:t>Prophet </a:t>
            </a:r>
            <a:r>
              <a:rPr lang="ru-RU" sz="2900" dirty="0">
                <a:solidFill>
                  <a:schemeClr val="tx1"/>
                </a:solidFill>
                <a:latin typeface="quote-cjk-patch"/>
              </a:rPr>
              <a:t>предлагает два типа тренда: </a:t>
            </a:r>
            <a:r>
              <a:rPr lang="ru-RU" sz="2900" b="1" dirty="0">
                <a:solidFill>
                  <a:schemeClr val="tx1"/>
                </a:solidFill>
                <a:latin typeface="quote-cjk-patch"/>
              </a:rPr>
              <a:t>логистический</a:t>
            </a:r>
            <a:r>
              <a:rPr lang="ru-RU" sz="2900" dirty="0">
                <a:solidFill>
                  <a:schemeClr val="tx1"/>
                </a:solidFill>
                <a:latin typeface="quote-cjk-patch"/>
              </a:rPr>
              <a:t> и </a:t>
            </a:r>
            <a:r>
              <a:rPr lang="ru-RU" sz="2900" b="1" dirty="0">
                <a:solidFill>
                  <a:schemeClr val="tx1"/>
                </a:solidFill>
                <a:latin typeface="quote-cjk-patch"/>
              </a:rPr>
              <a:t>линейный</a:t>
            </a:r>
            <a:r>
              <a:rPr lang="ru-RU" sz="2900" dirty="0">
                <a:solidFill>
                  <a:schemeClr val="tx1"/>
                </a:solidFill>
                <a:latin typeface="quote-cjk-patch"/>
              </a:rPr>
              <a:t> рост.</a:t>
            </a:r>
            <a:r>
              <a:rPr lang="en-US" sz="2900" dirty="0">
                <a:solidFill>
                  <a:schemeClr val="tx1"/>
                </a:solidFill>
                <a:latin typeface="quote-cjk-patch"/>
              </a:rPr>
              <a:t> </a:t>
            </a:r>
            <a:r>
              <a:rPr lang="en-US" sz="2900" b="1" dirty="0">
                <a:solidFill>
                  <a:schemeClr val="tx1"/>
                </a:solidFill>
                <a:latin typeface="quote-cjk-patch"/>
              </a:rPr>
              <a:t>s(t)</a:t>
            </a:r>
            <a:r>
              <a:rPr lang="en-US" sz="2900" dirty="0">
                <a:solidFill>
                  <a:schemeClr val="tx1"/>
                </a:solidFill>
                <a:latin typeface="quote-cjk-patch"/>
              </a:rPr>
              <a:t> — </a:t>
            </a:r>
            <a:r>
              <a:rPr lang="ru-RU" sz="2900" b="1" dirty="0">
                <a:solidFill>
                  <a:schemeClr val="tx1"/>
                </a:solidFill>
                <a:latin typeface="quote-cjk-patch"/>
              </a:rPr>
              <a:t>Сезонность</a:t>
            </a:r>
            <a:r>
              <a:rPr lang="ru-RU" sz="2900" dirty="0">
                <a:solidFill>
                  <a:schemeClr val="tx1"/>
                </a:solidFill>
                <a:latin typeface="quote-cjk-patch"/>
              </a:rPr>
              <a:t>: Моделирует периодические изменения (ежедневные, еженедельные, годовые,</a:t>
            </a:r>
            <a:r>
              <a:rPr lang="en-US" sz="2900" dirty="0">
                <a:solidFill>
                  <a:schemeClr val="tx1"/>
                </a:solidFill>
                <a:latin typeface="quote-cjk-patch"/>
              </a:rPr>
              <a:t> </a:t>
            </a:r>
            <a:r>
              <a:rPr lang="ru-RU" sz="2900" dirty="0">
                <a:solidFill>
                  <a:schemeClr val="tx1"/>
                </a:solidFill>
                <a:latin typeface="quote-cjk-patch"/>
              </a:rPr>
              <a:t>по времени суток). Использует разложение Фурье для гибкого описания сезонных паттернов.</a:t>
            </a:r>
            <a:r>
              <a:rPr lang="en-US" sz="2900" dirty="0">
                <a:solidFill>
                  <a:schemeClr val="tx1"/>
                </a:solidFill>
                <a:latin typeface="quote-cjk-patch"/>
              </a:rPr>
              <a:t> </a:t>
            </a:r>
            <a:r>
              <a:rPr lang="en-US" sz="2900" b="1" dirty="0">
                <a:solidFill>
                  <a:schemeClr val="tx1"/>
                </a:solidFill>
                <a:latin typeface="quote-cjk-patch"/>
              </a:rPr>
              <a:t>h(t)</a:t>
            </a:r>
            <a:r>
              <a:rPr lang="en-US" sz="2900" dirty="0">
                <a:solidFill>
                  <a:schemeClr val="tx1"/>
                </a:solidFill>
                <a:latin typeface="quote-cjk-patch"/>
              </a:rPr>
              <a:t> — </a:t>
            </a:r>
            <a:r>
              <a:rPr lang="ru-RU" sz="2900" b="1" dirty="0">
                <a:solidFill>
                  <a:schemeClr val="tx1"/>
                </a:solidFill>
                <a:latin typeface="quote-cjk-patch"/>
              </a:rPr>
              <a:t>Эффекты праздников/особых событий</a:t>
            </a:r>
            <a:r>
              <a:rPr lang="en-US" sz="2900" b="1" dirty="0">
                <a:solidFill>
                  <a:schemeClr val="tx1"/>
                </a:solidFill>
                <a:latin typeface="quote-cjk-patch"/>
              </a:rPr>
              <a:t>,</a:t>
            </a:r>
            <a:r>
              <a:rPr lang="ru-RU" sz="2900" b="1" dirty="0">
                <a:solidFill>
                  <a:schemeClr val="tx1"/>
                </a:solidFill>
                <a:latin typeface="quote-cjk-patch"/>
              </a:rPr>
              <a:t> </a:t>
            </a:r>
            <a:r>
              <a:rPr lang="ru-RU" sz="2900" dirty="0">
                <a:solidFill>
                  <a:schemeClr val="tx1"/>
                </a:solidFill>
                <a:latin typeface="quote-cjk-patch"/>
              </a:rPr>
              <a:t>например</a:t>
            </a:r>
            <a:r>
              <a:rPr lang="en-US" sz="2900" dirty="0">
                <a:solidFill>
                  <a:schemeClr val="tx1"/>
                </a:solidFill>
                <a:latin typeface="quote-cjk-patch"/>
              </a:rPr>
              <a:t>, </a:t>
            </a:r>
            <a:r>
              <a:rPr lang="ru-RU" sz="2900" dirty="0">
                <a:solidFill>
                  <a:schemeClr val="tx1"/>
                </a:solidFill>
                <a:latin typeface="quote-cjk-patch"/>
              </a:rPr>
              <a:t>новые релизы</a:t>
            </a:r>
            <a:r>
              <a:rPr lang="en-US" sz="2900" dirty="0">
                <a:solidFill>
                  <a:schemeClr val="tx1"/>
                </a:solidFill>
                <a:latin typeface="quote-cjk-patch"/>
              </a:rPr>
              <a:t>. </a:t>
            </a:r>
            <a:r>
              <a:rPr lang="ru-RU" sz="2900" dirty="0">
                <a:solidFill>
                  <a:schemeClr val="tx1"/>
                </a:solidFill>
                <a:latin typeface="quote-cjk-patch"/>
              </a:rPr>
              <a:t>Позволяет учесть известные аномалии, которые не подчиняются обычной сезонности.</a:t>
            </a:r>
            <a:r>
              <a:rPr lang="en-US" sz="2900" dirty="0">
                <a:solidFill>
                  <a:schemeClr val="tx1"/>
                </a:solidFill>
                <a:latin typeface="quote-cjk-patch"/>
              </a:rPr>
              <a:t> </a:t>
            </a:r>
            <a:r>
              <a:rPr lang="el-GR" sz="2900" b="1" dirty="0">
                <a:solidFill>
                  <a:schemeClr val="tx1"/>
                </a:solidFill>
                <a:latin typeface="quote-cjk-patch"/>
              </a:rPr>
              <a:t>ε</a:t>
            </a:r>
            <a:r>
              <a:rPr lang="en-US" sz="2900" b="1" dirty="0">
                <a:solidFill>
                  <a:schemeClr val="tx1"/>
                </a:solidFill>
                <a:latin typeface="quote-cjk-patch"/>
              </a:rPr>
              <a:t>ₜ</a:t>
            </a:r>
            <a:r>
              <a:rPr lang="en-US" sz="2900" dirty="0">
                <a:solidFill>
                  <a:schemeClr val="tx1"/>
                </a:solidFill>
                <a:latin typeface="quote-cjk-patch"/>
              </a:rPr>
              <a:t> — </a:t>
            </a:r>
            <a:r>
              <a:rPr lang="ru-RU" sz="2900" b="1" dirty="0">
                <a:solidFill>
                  <a:schemeClr val="tx1"/>
                </a:solidFill>
                <a:latin typeface="quote-cjk-patch"/>
              </a:rPr>
              <a:t>Ошибка</a:t>
            </a:r>
            <a:r>
              <a:rPr lang="ru-RU" sz="2900" dirty="0">
                <a:solidFill>
                  <a:schemeClr val="tx1"/>
                </a:solidFill>
                <a:latin typeface="quote-cjk-patch"/>
              </a:rPr>
              <a:t> (</a:t>
            </a:r>
            <a:r>
              <a:rPr lang="ru-RU" sz="2900" b="1" dirty="0">
                <a:solidFill>
                  <a:schemeClr val="tx1"/>
                </a:solidFill>
                <a:latin typeface="quote-cjk-patch"/>
              </a:rPr>
              <a:t>шум</a:t>
            </a:r>
            <a:r>
              <a:rPr lang="ru-RU" sz="2900" dirty="0">
                <a:solidFill>
                  <a:schemeClr val="tx1"/>
                </a:solidFill>
                <a:latin typeface="quote-cjk-patch"/>
              </a:rPr>
              <a:t>): Все, что не объяснено моделью.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687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113F5-25EB-3182-21EF-FF964EA20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effectLst/>
                <a:latin typeface="quote-cjk-patch"/>
              </a:rPr>
              <a:t>MAPE (Mean Absolute Percentage</a:t>
            </a:r>
            <a:r>
              <a:rPr lang="ru-RU" b="1" dirty="0">
                <a:solidFill>
                  <a:schemeClr val="tx1"/>
                </a:solidFill>
                <a:effectLst/>
                <a:latin typeface="quote-cjk-patch"/>
              </a:rPr>
              <a:t> </a:t>
            </a:r>
            <a:r>
              <a:rPr lang="en-US" b="1" dirty="0">
                <a:solidFill>
                  <a:schemeClr val="tx1"/>
                </a:solidFill>
                <a:effectLst/>
                <a:latin typeface="quote-cjk-patch"/>
              </a:rPr>
              <a:t>Error</a:t>
            </a:r>
            <a:r>
              <a:rPr lang="ru-RU" b="1" dirty="0">
                <a:solidFill>
                  <a:schemeClr val="tx1"/>
                </a:solidFill>
                <a:effectLst/>
                <a:latin typeface="quote-cjk-patch"/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B8710-7D48-476F-1E34-8E2EC49A9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dirty="0">
                <a:solidFill>
                  <a:schemeClr val="tx1"/>
                </a:solidFill>
                <a:latin typeface="quote-cjk-patch"/>
              </a:rPr>
              <a:t>- </a:t>
            </a:r>
            <a:r>
              <a:rPr lang="en-US" b="1" dirty="0">
                <a:solidFill>
                  <a:schemeClr val="tx1"/>
                </a:solidFill>
                <a:latin typeface="quote-cjk-patch"/>
              </a:rPr>
              <a:t>MAPE (Mean Absolute Percentage Error) — </a:t>
            </a:r>
            <a:r>
              <a:rPr lang="ru-RU" b="1" dirty="0">
                <a:solidFill>
                  <a:schemeClr val="tx1"/>
                </a:solidFill>
                <a:latin typeface="quote-cjk-patch"/>
              </a:rPr>
              <a:t>средняя абсолютная процентная ошибка</a:t>
            </a:r>
            <a:r>
              <a:rPr lang="ru-RU" dirty="0">
                <a:solidFill>
                  <a:schemeClr val="tx1"/>
                </a:solidFill>
                <a:latin typeface="quote-cjk-patch"/>
              </a:rPr>
              <a:t>. Это одна из самых популярных метрик для оценки точности прогнозов в бизнесе и аналитике.</a:t>
            </a:r>
          </a:p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dirty="0">
                <a:solidFill>
                  <a:schemeClr val="tx1"/>
                </a:solidFill>
                <a:latin typeface="quote-cjk-patch"/>
              </a:rPr>
              <a:t>- Простыми словами: </a:t>
            </a:r>
            <a:r>
              <a:rPr lang="en-US" dirty="0">
                <a:solidFill>
                  <a:schemeClr val="tx1"/>
                </a:solidFill>
                <a:latin typeface="quote-cjk-patch"/>
              </a:rPr>
              <a:t>MAPE </a:t>
            </a:r>
            <a:r>
              <a:rPr lang="ru-RU" dirty="0">
                <a:solidFill>
                  <a:schemeClr val="tx1"/>
                </a:solidFill>
                <a:latin typeface="quote-cjk-patch"/>
              </a:rPr>
              <a:t>показывает, </a:t>
            </a:r>
            <a:r>
              <a:rPr lang="ru-RU" b="1" dirty="0">
                <a:solidFill>
                  <a:schemeClr val="tx1"/>
                </a:solidFill>
                <a:latin typeface="quote-cjk-patch"/>
              </a:rPr>
              <a:t>на сколько процентов в среднем ошибается наша модель</a:t>
            </a:r>
            <a:r>
              <a:rPr lang="ru-RU" dirty="0">
                <a:solidFill>
                  <a:schemeClr val="tx1"/>
                </a:solidFill>
                <a:latin typeface="quote-cjk-patch"/>
              </a:rPr>
              <a:t>. Если </a:t>
            </a:r>
            <a:r>
              <a:rPr lang="en-US" dirty="0">
                <a:solidFill>
                  <a:schemeClr val="tx1"/>
                </a:solidFill>
                <a:latin typeface="quote-cjk-patch"/>
              </a:rPr>
              <a:t>MAPE = 5%, </a:t>
            </a:r>
            <a:r>
              <a:rPr lang="ru-RU" dirty="0">
                <a:solidFill>
                  <a:schemeClr val="tx1"/>
                </a:solidFill>
                <a:latin typeface="quote-cjk-patch"/>
              </a:rPr>
              <a:t>значит в среднем прогноз отклоняется от фактических значений на 5%.</a:t>
            </a:r>
          </a:p>
        </p:txBody>
      </p:sp>
    </p:spTree>
    <p:extLst>
      <p:ext uri="{BB962C8B-B14F-4D97-AF65-F5344CB8AC3E}">
        <p14:creationId xmlns:p14="http://schemas.microsoft.com/office/powerpoint/2010/main" val="249683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65B96-141A-EBA6-69D2-46C4A047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1"/>
                </a:solidFill>
                <a:effectLst/>
                <a:latin typeface="quote-cjk-patch"/>
              </a:rPr>
              <a:t>Критерии хорошей модели </a:t>
            </a:r>
            <a:r>
              <a:rPr lang="en-US" b="1" dirty="0">
                <a:solidFill>
                  <a:schemeClr val="tx1"/>
                </a:solidFill>
                <a:effectLst/>
                <a:latin typeface="quote-cjk-patch"/>
              </a:rPr>
              <a:t>Prophet: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E716A-E617-7F94-3A28-3059447A6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chemeClr val="tx1"/>
                </a:solidFill>
                <a:effectLst/>
                <a:latin typeface="quote-cjk-patch"/>
              </a:rPr>
              <a:t>Критерии хорошей модели </a:t>
            </a:r>
            <a:r>
              <a:rPr lang="en-US" b="1" dirty="0">
                <a:solidFill>
                  <a:schemeClr val="tx1"/>
                </a:solidFill>
                <a:effectLst/>
                <a:latin typeface="quote-cjk-patch"/>
              </a:rPr>
              <a:t>Prophet:</a:t>
            </a:r>
          </a:p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quote-cjk-patch"/>
              </a:rPr>
              <a:t>✓ </a:t>
            </a:r>
            <a:r>
              <a:rPr lang="en-US" b="1" i="0" dirty="0">
                <a:solidFill>
                  <a:schemeClr val="tx1"/>
                </a:solidFill>
                <a:effectLst/>
                <a:latin typeface="quote-cjk-patch"/>
              </a:rPr>
              <a:t>MAPE &lt; 10-15%</a:t>
            </a:r>
            <a:r>
              <a:rPr lang="en-US" b="0" i="0" dirty="0">
                <a:solidFill>
                  <a:schemeClr val="tx1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для бизнес-прогнозов (зависит от отрасли)</a:t>
            </a:r>
            <a:b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✓ </a:t>
            </a: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Остатки близки к нормальному распределению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с центром в 0</a:t>
            </a:r>
            <a:b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✓ </a:t>
            </a: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Нет значимой автокорреляции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в остатках (особенно на лагах сезонности)</a:t>
            </a:r>
            <a:b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✓ </a:t>
            </a: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Прогноз лучше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простых бенчмарков</a:t>
            </a:r>
            <a:b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✓ </a:t>
            </a: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Ширина доверительного интервала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приемлема для бизнес-решений</a:t>
            </a:r>
            <a:b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✓ </a:t>
            </a: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Точки изменения тренда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соответствуют реальным бизнес-событиям</a:t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584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4C66D-F510-4C71-CDA7-9EC6ACF4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Оценка Модели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B19B9-C332-D77E-743C-C98AD554A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Визуально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прогноз выглядит адекватно?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i="0" dirty="0">
                <a:solidFill>
                  <a:schemeClr val="tx1"/>
                </a:solidFill>
                <a:effectLst/>
                <a:latin typeface="quote-cjk-patch"/>
              </a:rPr>
              <a:t>MAPE/RMSE</a:t>
            </a:r>
            <a:r>
              <a:rPr lang="en-US" b="0" i="0" dirty="0">
                <a:solidFill>
                  <a:schemeClr val="tx1"/>
                </a:solidFill>
                <a:effectLst/>
                <a:latin typeface="quote-cjk-patch"/>
              </a:rPr>
              <a:t> 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на тестовой выборке приемлемы для бизнеса?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Кросс-валидация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показывает стабильность ошибок?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Остатки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случайны (нет автокорреляции, паттернов)?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Модель лучше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наивного прогноза?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Компоненты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имеют смысл с точки зрения бизнеса?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b="1" i="0" dirty="0">
                <a:solidFill>
                  <a:schemeClr val="tx1"/>
                </a:solidFill>
                <a:effectLst/>
                <a:latin typeface="quote-cjk-patch"/>
              </a:rPr>
              <a:t>Доверительный интервал</a:t>
            </a:r>
            <a:r>
              <a:rPr lang="ru-RU" b="0" i="0" dirty="0">
                <a:solidFill>
                  <a:schemeClr val="tx1"/>
                </a:solidFill>
                <a:effectLst/>
                <a:latin typeface="quote-cjk-patch"/>
              </a:rPr>
              <a:t> не слишком широкий для горизонта планирования</a:t>
            </a:r>
            <a:r>
              <a:rPr lang="en-US" dirty="0">
                <a:solidFill>
                  <a:schemeClr val="tx1"/>
                </a:solidFill>
                <a:latin typeface="quote-cjk-patch"/>
              </a:rPr>
              <a:t>?</a:t>
            </a:r>
            <a:endParaRPr lang="ru-RU" b="0" i="0" dirty="0">
              <a:solidFill>
                <a:schemeClr val="tx1"/>
              </a:solidFill>
              <a:effectLst/>
              <a:latin typeface="quote-cjk-patch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80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40A05-D2D8-193E-706D-8D14078E8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814" y="558546"/>
            <a:ext cx="4789774" cy="1188720"/>
          </a:xfrm>
        </p:spPr>
        <p:txBody>
          <a:bodyPr/>
          <a:lstStyle/>
          <a:p>
            <a:r>
              <a:rPr lang="en-US" b="1" dirty="0"/>
              <a:t>MODEL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165C4-B92D-E8F6-E0CE-D494787F0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022" y="558546"/>
            <a:ext cx="6253653" cy="59893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i="1" dirty="0">
                <a:solidFill>
                  <a:schemeClr val="tx1"/>
                </a:solidFill>
              </a:rPr>
              <a:t>Prophet(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growth='linear',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changepoints=None,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</a:t>
            </a:r>
            <a:r>
              <a:rPr lang="en-US" i="1" dirty="0" err="1">
                <a:solidFill>
                  <a:schemeClr val="tx1"/>
                </a:solidFill>
              </a:rPr>
              <a:t>n_changepoints</a:t>
            </a:r>
            <a:r>
              <a:rPr lang="en-US" i="1" dirty="0">
                <a:solidFill>
                  <a:schemeClr val="tx1"/>
                </a:solidFill>
              </a:rPr>
              <a:t>=25,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</a:t>
            </a:r>
            <a:r>
              <a:rPr lang="en-US" i="1" dirty="0" err="1">
                <a:solidFill>
                  <a:schemeClr val="tx1"/>
                </a:solidFill>
              </a:rPr>
              <a:t>changepoint_range</a:t>
            </a:r>
            <a:r>
              <a:rPr lang="en-US" i="1" dirty="0">
                <a:solidFill>
                  <a:schemeClr val="tx1"/>
                </a:solidFill>
              </a:rPr>
              <a:t>=0.8,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</a:t>
            </a:r>
            <a:r>
              <a:rPr lang="en-US" i="1" dirty="0" err="1">
                <a:solidFill>
                  <a:schemeClr val="tx1"/>
                </a:solidFill>
              </a:rPr>
              <a:t>yearly_seasonality</a:t>
            </a:r>
            <a:r>
              <a:rPr lang="en-US" i="1" dirty="0">
                <a:solidFill>
                  <a:schemeClr val="tx1"/>
                </a:solidFill>
              </a:rPr>
              <a:t>='auto',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</a:t>
            </a:r>
            <a:r>
              <a:rPr lang="en-US" i="1" dirty="0" err="1">
                <a:solidFill>
                  <a:schemeClr val="tx1"/>
                </a:solidFill>
              </a:rPr>
              <a:t>weekly_seasonality</a:t>
            </a:r>
            <a:r>
              <a:rPr lang="en-US" i="1" dirty="0">
                <a:solidFill>
                  <a:schemeClr val="tx1"/>
                </a:solidFill>
              </a:rPr>
              <a:t>='auto',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</a:t>
            </a:r>
            <a:r>
              <a:rPr lang="en-US" i="1" dirty="0" err="1">
                <a:solidFill>
                  <a:schemeClr val="tx1"/>
                </a:solidFill>
              </a:rPr>
              <a:t>daily_seasonality</a:t>
            </a:r>
            <a:r>
              <a:rPr lang="en-US" i="1" dirty="0">
                <a:solidFill>
                  <a:schemeClr val="tx1"/>
                </a:solidFill>
              </a:rPr>
              <a:t>='auto',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holidays=None,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</a:t>
            </a:r>
            <a:r>
              <a:rPr lang="en-US" i="1" dirty="0" err="1">
                <a:solidFill>
                  <a:schemeClr val="tx1"/>
                </a:solidFill>
              </a:rPr>
              <a:t>seasonality_mode</a:t>
            </a:r>
            <a:r>
              <a:rPr lang="en-US" i="1" dirty="0">
                <a:solidFill>
                  <a:schemeClr val="tx1"/>
                </a:solidFill>
              </a:rPr>
              <a:t>='additive',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</a:t>
            </a:r>
            <a:r>
              <a:rPr lang="en-US" i="1" dirty="0" err="1">
                <a:solidFill>
                  <a:schemeClr val="tx1"/>
                </a:solidFill>
              </a:rPr>
              <a:t>seasonality_prior_scale</a:t>
            </a:r>
            <a:r>
              <a:rPr lang="en-US" i="1" dirty="0">
                <a:solidFill>
                  <a:schemeClr val="tx1"/>
                </a:solidFill>
              </a:rPr>
              <a:t>=10.0,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</a:t>
            </a:r>
            <a:r>
              <a:rPr lang="en-US" i="1" dirty="0" err="1">
                <a:solidFill>
                  <a:schemeClr val="tx1"/>
                </a:solidFill>
              </a:rPr>
              <a:t>holidays_prior_scale</a:t>
            </a:r>
            <a:r>
              <a:rPr lang="en-US" i="1" dirty="0">
                <a:solidFill>
                  <a:schemeClr val="tx1"/>
                </a:solidFill>
              </a:rPr>
              <a:t>=10.0,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</a:t>
            </a:r>
            <a:r>
              <a:rPr lang="en-US" i="1" dirty="0" err="1">
                <a:solidFill>
                  <a:schemeClr val="tx1"/>
                </a:solidFill>
              </a:rPr>
              <a:t>changepoint_prior_scale</a:t>
            </a:r>
            <a:r>
              <a:rPr lang="en-US" i="1" dirty="0">
                <a:solidFill>
                  <a:schemeClr val="tx1"/>
                </a:solidFill>
              </a:rPr>
              <a:t>=0.05,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</a:t>
            </a:r>
            <a:r>
              <a:rPr lang="en-US" i="1" dirty="0" err="1">
                <a:solidFill>
                  <a:schemeClr val="tx1"/>
                </a:solidFill>
              </a:rPr>
              <a:t>mcmc_samples</a:t>
            </a:r>
            <a:r>
              <a:rPr lang="en-US" i="1" dirty="0">
                <a:solidFill>
                  <a:schemeClr val="tx1"/>
                </a:solidFill>
              </a:rPr>
              <a:t>=0,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</a:t>
            </a:r>
            <a:r>
              <a:rPr lang="en-US" i="1" dirty="0" err="1">
                <a:solidFill>
                  <a:schemeClr val="tx1"/>
                </a:solidFill>
              </a:rPr>
              <a:t>interval_width</a:t>
            </a:r>
            <a:r>
              <a:rPr lang="en-US" i="1" dirty="0">
                <a:solidFill>
                  <a:schemeClr val="tx1"/>
                </a:solidFill>
              </a:rPr>
              <a:t>=0.8,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</a:t>
            </a:r>
            <a:r>
              <a:rPr lang="en-US" i="1" dirty="0" err="1">
                <a:solidFill>
                  <a:schemeClr val="tx1"/>
                </a:solidFill>
              </a:rPr>
              <a:t>uncertainty_samples</a:t>
            </a:r>
            <a:r>
              <a:rPr lang="en-US" i="1" dirty="0">
                <a:solidFill>
                  <a:schemeClr val="tx1"/>
                </a:solidFill>
              </a:rPr>
              <a:t>=1000,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</a:t>
            </a:r>
            <a:r>
              <a:rPr lang="en-US" i="1" dirty="0" err="1">
                <a:solidFill>
                  <a:schemeClr val="tx1"/>
                </a:solidFill>
              </a:rPr>
              <a:t>stan_backend</a:t>
            </a:r>
            <a:r>
              <a:rPr lang="en-US" i="1" dirty="0">
                <a:solidFill>
                  <a:schemeClr val="tx1"/>
                </a:solidFill>
              </a:rPr>
              <a:t>=None,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scaling: str = '</a:t>
            </a:r>
            <a:r>
              <a:rPr lang="en-US" i="1" dirty="0" err="1">
                <a:solidFill>
                  <a:schemeClr val="tx1"/>
                </a:solidFill>
              </a:rPr>
              <a:t>absmax</a:t>
            </a:r>
            <a:r>
              <a:rPr lang="en-US" i="1" dirty="0">
                <a:solidFill>
                  <a:schemeClr val="tx1"/>
                </a:solidFill>
              </a:rPr>
              <a:t>',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    </a:t>
            </a:r>
            <a:r>
              <a:rPr lang="en-US" i="1" dirty="0" err="1">
                <a:solidFill>
                  <a:schemeClr val="tx1"/>
                </a:solidFill>
              </a:rPr>
              <a:t>holidays_mode</a:t>
            </a:r>
            <a:r>
              <a:rPr lang="en-US" i="1" dirty="0">
                <a:solidFill>
                  <a:schemeClr val="tx1"/>
                </a:solidFill>
              </a:rPr>
              <a:t>=None,</a:t>
            </a:r>
          </a:p>
          <a:p>
            <a:pPr marL="0" indent="0">
              <a:buNone/>
            </a:pPr>
            <a:r>
              <a:rPr lang="en-US" b="1" i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149FE4-F6F0-0D22-D7D6-65EAA320D76F}"/>
              </a:ext>
            </a:extLst>
          </p:cNvPr>
          <p:cNvSpPr txBox="1"/>
          <p:nvPr/>
        </p:nvSpPr>
        <p:spPr>
          <a:xfrm>
            <a:off x="3909849" y="2740332"/>
            <a:ext cx="62536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>
                <a:solidFill>
                  <a:srgbClr val="8C8C8C"/>
                </a:solidFill>
                <a:effectLst/>
              </a:rPr>
              <a:t># Рабочие часы</a:t>
            </a:r>
            <a:br>
              <a:rPr lang="ru-RU" i="1" dirty="0">
                <a:solidFill>
                  <a:srgbClr val="8C8C8C"/>
                </a:solidFill>
                <a:effectLst/>
              </a:rPr>
            </a:br>
            <a:r>
              <a:rPr lang="en-US" i="1" dirty="0" err="1"/>
              <a:t>df</a:t>
            </a:r>
            <a:r>
              <a:rPr lang="en-US" i="1" dirty="0"/>
              <a:t>[</a:t>
            </a:r>
            <a:r>
              <a:rPr lang="en-US" i="1" dirty="0">
                <a:solidFill>
                  <a:srgbClr val="067D17"/>
                </a:solidFill>
                <a:effectLst/>
              </a:rPr>
              <a:t>'</a:t>
            </a:r>
            <a:r>
              <a:rPr lang="en-US" i="1" dirty="0" err="1">
                <a:solidFill>
                  <a:srgbClr val="067D17"/>
                </a:solidFill>
                <a:effectLst/>
              </a:rPr>
              <a:t>is_work_hours</a:t>
            </a:r>
            <a:r>
              <a:rPr lang="en-US" i="1" dirty="0">
                <a:solidFill>
                  <a:srgbClr val="067D17"/>
                </a:solidFill>
                <a:effectLst/>
              </a:rPr>
              <a:t>'</a:t>
            </a:r>
            <a:r>
              <a:rPr lang="en-US" i="1" dirty="0"/>
              <a:t>] = </a:t>
            </a:r>
            <a:r>
              <a:rPr lang="en-US" i="1" dirty="0" err="1"/>
              <a:t>df</a:t>
            </a:r>
            <a:r>
              <a:rPr lang="en-US" i="1" dirty="0"/>
              <a:t>[</a:t>
            </a:r>
            <a:r>
              <a:rPr lang="en-US" i="1" dirty="0">
                <a:solidFill>
                  <a:srgbClr val="067D17"/>
                </a:solidFill>
                <a:effectLst/>
              </a:rPr>
              <a:t>'ds'</a:t>
            </a:r>
            <a:r>
              <a:rPr lang="en-US" i="1" dirty="0"/>
              <a:t>].</a:t>
            </a:r>
            <a:r>
              <a:rPr lang="en-US" i="1" dirty="0" err="1"/>
              <a:t>dt.hour.between</a:t>
            </a:r>
            <a:r>
              <a:rPr lang="en-US" i="1" dirty="0"/>
              <a:t>(</a:t>
            </a:r>
            <a:r>
              <a:rPr lang="en-US" i="1" dirty="0">
                <a:solidFill>
                  <a:srgbClr val="1750EB"/>
                </a:solidFill>
                <a:effectLst/>
              </a:rPr>
              <a:t>9</a:t>
            </a:r>
            <a:r>
              <a:rPr lang="en-US" i="1" dirty="0"/>
              <a:t>, </a:t>
            </a:r>
            <a:r>
              <a:rPr lang="en-US" i="1" dirty="0">
                <a:solidFill>
                  <a:srgbClr val="1750EB"/>
                </a:solidFill>
                <a:effectLst/>
              </a:rPr>
              <a:t>18</a:t>
            </a:r>
            <a:r>
              <a:rPr lang="en-US" i="1" dirty="0"/>
              <a:t>).</a:t>
            </a:r>
            <a:r>
              <a:rPr lang="en-US" i="1" dirty="0" err="1"/>
              <a:t>astype</a:t>
            </a:r>
            <a:r>
              <a:rPr lang="en-US" i="1" dirty="0"/>
              <a:t>(</a:t>
            </a:r>
            <a:r>
              <a:rPr lang="en-US" i="1" dirty="0">
                <a:solidFill>
                  <a:srgbClr val="000080"/>
                </a:solidFill>
                <a:effectLst/>
              </a:rPr>
              <a:t>float</a:t>
            </a:r>
            <a:r>
              <a:rPr lang="en-US" i="1" dirty="0"/>
              <a:t>)</a:t>
            </a:r>
            <a:br>
              <a:rPr lang="en-US" i="1" dirty="0"/>
            </a:br>
            <a:r>
              <a:rPr lang="en-US" i="1" dirty="0" err="1"/>
              <a:t>df</a:t>
            </a:r>
            <a:r>
              <a:rPr lang="en-US" i="1" dirty="0"/>
              <a:t>[</a:t>
            </a:r>
            <a:r>
              <a:rPr lang="en-US" i="1" dirty="0">
                <a:solidFill>
                  <a:srgbClr val="067D17"/>
                </a:solidFill>
                <a:effectLst/>
              </a:rPr>
              <a:t>'</a:t>
            </a:r>
            <a:r>
              <a:rPr lang="en-US" i="1" dirty="0" err="1">
                <a:solidFill>
                  <a:srgbClr val="067D17"/>
                </a:solidFill>
                <a:effectLst/>
              </a:rPr>
              <a:t>is_night_hours</a:t>
            </a:r>
            <a:r>
              <a:rPr lang="en-US" i="1" dirty="0">
                <a:solidFill>
                  <a:srgbClr val="067D17"/>
                </a:solidFill>
                <a:effectLst/>
              </a:rPr>
              <a:t>'</a:t>
            </a:r>
            <a:r>
              <a:rPr lang="en-US" i="1" dirty="0"/>
              <a:t>] = </a:t>
            </a:r>
            <a:r>
              <a:rPr lang="en-US" i="1" dirty="0" err="1"/>
              <a:t>df</a:t>
            </a:r>
            <a:r>
              <a:rPr lang="en-US" i="1" dirty="0"/>
              <a:t>[</a:t>
            </a:r>
            <a:r>
              <a:rPr lang="en-US" i="1" dirty="0">
                <a:solidFill>
                  <a:srgbClr val="067D17"/>
                </a:solidFill>
                <a:effectLst/>
              </a:rPr>
              <a:t>'ds'</a:t>
            </a:r>
            <a:r>
              <a:rPr lang="en-US" i="1" dirty="0"/>
              <a:t>].</a:t>
            </a:r>
            <a:r>
              <a:rPr lang="en-US" i="1" dirty="0" err="1"/>
              <a:t>dt.hour.between</a:t>
            </a:r>
            <a:r>
              <a:rPr lang="en-US" i="1" dirty="0"/>
              <a:t>(</a:t>
            </a:r>
            <a:r>
              <a:rPr lang="en-US" i="1" dirty="0">
                <a:solidFill>
                  <a:srgbClr val="1750EB"/>
                </a:solidFill>
                <a:effectLst/>
              </a:rPr>
              <a:t>0</a:t>
            </a:r>
            <a:r>
              <a:rPr lang="en-US" i="1" dirty="0"/>
              <a:t>, </a:t>
            </a:r>
            <a:r>
              <a:rPr lang="en-US" i="1" dirty="0">
                <a:solidFill>
                  <a:srgbClr val="1750EB"/>
                </a:solidFill>
                <a:effectLst/>
              </a:rPr>
              <a:t>6</a:t>
            </a:r>
            <a:r>
              <a:rPr lang="en-US" i="1" dirty="0"/>
              <a:t>).</a:t>
            </a:r>
            <a:r>
              <a:rPr lang="en-US" i="1" dirty="0" err="1"/>
              <a:t>astype</a:t>
            </a:r>
            <a:r>
              <a:rPr lang="en-US" i="1" dirty="0"/>
              <a:t>(</a:t>
            </a:r>
            <a:r>
              <a:rPr lang="en-US" i="1" dirty="0">
                <a:solidFill>
                  <a:srgbClr val="000080"/>
                </a:solidFill>
                <a:effectLst/>
              </a:rPr>
              <a:t>float</a:t>
            </a:r>
            <a:r>
              <a:rPr lang="en-US" i="1" dirty="0"/>
              <a:t>)</a:t>
            </a:r>
            <a:br>
              <a:rPr lang="en-US" i="1" dirty="0"/>
            </a:br>
            <a:r>
              <a:rPr lang="en-US" i="1" dirty="0" err="1"/>
              <a:t>df</a:t>
            </a:r>
            <a:r>
              <a:rPr lang="en-US" i="1" dirty="0"/>
              <a:t>[</a:t>
            </a:r>
            <a:r>
              <a:rPr lang="en-US" i="1" dirty="0">
                <a:solidFill>
                  <a:srgbClr val="067D17"/>
                </a:solidFill>
                <a:effectLst/>
              </a:rPr>
              <a:t>'</a:t>
            </a:r>
            <a:r>
              <a:rPr lang="en-US" i="1" dirty="0" err="1">
                <a:solidFill>
                  <a:srgbClr val="067D17"/>
                </a:solidFill>
                <a:effectLst/>
              </a:rPr>
              <a:t>is_work_day</a:t>
            </a:r>
            <a:r>
              <a:rPr lang="en-US" i="1" dirty="0">
                <a:solidFill>
                  <a:srgbClr val="067D17"/>
                </a:solidFill>
                <a:effectLst/>
              </a:rPr>
              <a:t>'</a:t>
            </a:r>
            <a:r>
              <a:rPr lang="en-US" i="1" dirty="0"/>
              <a:t>] = </a:t>
            </a:r>
            <a:r>
              <a:rPr lang="en-US" i="1" dirty="0" err="1"/>
              <a:t>df</a:t>
            </a:r>
            <a:r>
              <a:rPr lang="en-US" i="1" dirty="0"/>
              <a:t>[</a:t>
            </a:r>
            <a:r>
              <a:rPr lang="en-US" i="1" dirty="0">
                <a:solidFill>
                  <a:srgbClr val="067D17"/>
                </a:solidFill>
                <a:effectLst/>
              </a:rPr>
              <a:t>'ds'</a:t>
            </a:r>
            <a:r>
              <a:rPr lang="en-US" i="1" dirty="0"/>
              <a:t>].</a:t>
            </a:r>
            <a:r>
              <a:rPr lang="en-US" i="1" dirty="0" err="1"/>
              <a:t>dt.weekday.between</a:t>
            </a:r>
            <a:r>
              <a:rPr lang="en-US" i="1" dirty="0"/>
              <a:t>(</a:t>
            </a:r>
            <a:r>
              <a:rPr lang="en-US" i="1" dirty="0">
                <a:solidFill>
                  <a:srgbClr val="1750EB"/>
                </a:solidFill>
                <a:effectLst/>
              </a:rPr>
              <a:t>0</a:t>
            </a:r>
            <a:r>
              <a:rPr lang="en-US" i="1" dirty="0"/>
              <a:t>, </a:t>
            </a:r>
            <a:r>
              <a:rPr lang="en-US" i="1" dirty="0">
                <a:solidFill>
                  <a:srgbClr val="1750EB"/>
                </a:solidFill>
                <a:effectLst/>
              </a:rPr>
              <a:t>4</a:t>
            </a:r>
            <a:r>
              <a:rPr lang="en-US" i="1" dirty="0"/>
              <a:t>).</a:t>
            </a:r>
            <a:r>
              <a:rPr lang="en-US" i="1" dirty="0" err="1"/>
              <a:t>astype</a:t>
            </a:r>
            <a:r>
              <a:rPr lang="en-US" i="1" dirty="0"/>
              <a:t>(</a:t>
            </a:r>
            <a:r>
              <a:rPr lang="en-US" i="1" dirty="0">
                <a:solidFill>
                  <a:srgbClr val="000080"/>
                </a:solidFill>
                <a:effectLst/>
              </a:rPr>
              <a:t>float</a:t>
            </a:r>
            <a:r>
              <a:rPr lang="en-US" i="1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21DA95-9EC8-07DB-0A09-A7EB2193F075}"/>
              </a:ext>
            </a:extLst>
          </p:cNvPr>
          <p:cNvSpPr txBox="1"/>
          <p:nvPr/>
        </p:nvSpPr>
        <p:spPr>
          <a:xfrm>
            <a:off x="3909849" y="2371000"/>
            <a:ext cx="2469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Сезонности</a:t>
            </a:r>
            <a:r>
              <a:rPr lang="en-US" b="1" dirty="0"/>
              <a:t>: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986A77-DE8E-DF3B-23A1-4383B73B9464}"/>
              </a:ext>
            </a:extLst>
          </p:cNvPr>
          <p:cNvSpPr txBox="1">
            <a:spLocks/>
          </p:cNvSpPr>
          <p:nvPr/>
        </p:nvSpPr>
        <p:spPr bwMode="black">
          <a:xfrm>
            <a:off x="4662494" y="4410587"/>
            <a:ext cx="5754414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Default </a:t>
            </a:r>
            <a:r>
              <a:rPr lang="en-US" b="1" dirty="0" err="1"/>
              <a:t>Hyperparams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97975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CE4901-284E-C3D6-6A89-CC4CE5584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254" y="388883"/>
            <a:ext cx="3076645" cy="59173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8553242-86D6-98A5-B3AD-796B9D36E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8953" y="1996965"/>
            <a:ext cx="3331308" cy="2427889"/>
          </a:xfrm>
        </p:spPr>
        <p:txBody>
          <a:bodyPr>
            <a:normAutofit/>
          </a:bodyPr>
          <a:lstStyle/>
          <a:p>
            <a:r>
              <a:rPr lang="ru-RU" b="1" dirty="0"/>
              <a:t>Прогноз на следующие 24 часа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950F7-5275-4B33-ADAE-D6A6D597C1D9}"/>
              </a:ext>
            </a:extLst>
          </p:cNvPr>
          <p:cNvSpPr txBox="1"/>
          <p:nvPr/>
        </p:nvSpPr>
        <p:spPr>
          <a:xfrm>
            <a:off x="5076497" y="388883"/>
            <a:ext cx="3436883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 </a:t>
            </a:r>
            <a:r>
              <a:rPr lang="en-US" dirty="0">
                <a:solidFill>
                  <a:srgbClr val="871094"/>
                </a:solidFill>
                <a:effectLst/>
              </a:rPr>
              <a:t>"metrics"</a:t>
            </a:r>
            <a:r>
              <a:rPr lang="en-US" dirty="0"/>
              <a:t>: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mape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1750EB"/>
                </a:solidFill>
                <a:effectLst/>
              </a:rPr>
              <a:t>3.3787310697455943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rmse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1750EB"/>
                </a:solidFill>
                <a:effectLst/>
              </a:rPr>
              <a:t>0.5591787060303679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mae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1750EB"/>
                </a:solidFill>
                <a:effectLst/>
              </a:rPr>
              <a:t>0.19921315010412347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871094"/>
                </a:solidFill>
                <a:effectLst/>
              </a:rPr>
              <a:t>"coverage"</a:t>
            </a:r>
            <a:r>
              <a:rPr lang="en-US" dirty="0"/>
              <a:t>: </a:t>
            </a:r>
            <a:r>
              <a:rPr lang="en-US" dirty="0">
                <a:solidFill>
                  <a:srgbClr val="1750EB"/>
                </a:solidFill>
                <a:effectLst/>
              </a:rPr>
              <a:t>99.12280701754386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smape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1750EB"/>
                </a:solidFill>
                <a:effectLst/>
              </a:rPr>
              <a:t>3.477506697358464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mse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1750EB"/>
                </a:solidFill>
                <a:effectLst/>
              </a:rPr>
              <a:t>0.31268082527779656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evaluation_type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067D17"/>
                </a:solidFill>
                <a:effectLst/>
              </a:rPr>
              <a:t>"simple"</a:t>
            </a:r>
            <a:br>
              <a:rPr lang="en-US" dirty="0">
                <a:solidFill>
                  <a:srgbClr val="067D17"/>
                </a:solidFill>
                <a:effectLst/>
              </a:rPr>
            </a:br>
            <a:r>
              <a:rPr lang="en-US" dirty="0">
                <a:solidFill>
                  <a:srgbClr val="067D17"/>
                </a:solidFill>
                <a:effectLst/>
              </a:rPr>
              <a:t>  </a:t>
            </a:r>
            <a:r>
              <a:rPr lang="en-US" dirty="0"/>
              <a:t>},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data_points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1750EB"/>
                </a:solidFill>
                <a:effectLst/>
              </a:rPr>
              <a:t>114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vm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067D17"/>
                </a:solidFill>
                <a:effectLst/>
              </a:rPr>
              <a:t>"DataLake-DBN1"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>
                <a:solidFill>
                  <a:srgbClr val="871094"/>
                </a:solidFill>
                <a:effectLst/>
              </a:rPr>
              <a:t>"metric"</a:t>
            </a:r>
            <a:r>
              <a:rPr lang="en-US" dirty="0"/>
              <a:t>: </a:t>
            </a:r>
            <a:r>
              <a:rPr lang="en-US" dirty="0">
                <a:solidFill>
                  <a:srgbClr val="067D17"/>
                </a:solidFill>
                <a:effectLst/>
              </a:rPr>
              <a:t>"</a:t>
            </a:r>
            <a:r>
              <a:rPr lang="en-US" dirty="0" err="1">
                <a:solidFill>
                  <a:srgbClr val="067D17"/>
                </a:solidFill>
                <a:effectLst/>
              </a:rPr>
              <a:t>cpu.usage.average</a:t>
            </a:r>
            <a:r>
              <a:rPr lang="en-US" dirty="0">
                <a:solidFill>
                  <a:srgbClr val="067D17"/>
                </a:solidFill>
                <a:effectLst/>
              </a:rPr>
              <a:t>"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>
                <a:solidFill>
                  <a:srgbClr val="871094"/>
                </a:solidFill>
                <a:effectLst/>
              </a:rPr>
              <a:t>"config"</a:t>
            </a:r>
            <a:r>
              <a:rPr lang="en-US" dirty="0"/>
              <a:t>: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871094"/>
                </a:solidFill>
                <a:effectLst/>
              </a:rPr>
              <a:t>"growth"</a:t>
            </a:r>
            <a:r>
              <a:rPr lang="en-US" dirty="0"/>
              <a:t>: </a:t>
            </a:r>
            <a:r>
              <a:rPr lang="en-US" dirty="0">
                <a:solidFill>
                  <a:srgbClr val="067D17"/>
                </a:solidFill>
                <a:effectLst/>
              </a:rPr>
              <a:t>"linear"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yearly_seasonality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0033B3"/>
                </a:solidFill>
                <a:effectLst/>
              </a:rPr>
              <a:t>false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interval_width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1750EB"/>
                </a:solidFill>
                <a:effectLst/>
              </a:rPr>
              <a:t>0.95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seasonality_mode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067D17"/>
                </a:solidFill>
                <a:effectLst/>
              </a:rPr>
              <a:t>"multiplicative"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daily_seasonality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0033B3"/>
                </a:solidFill>
                <a:effectLst/>
              </a:rPr>
              <a:t>true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weekly_seasonality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0033B3"/>
                </a:solidFill>
                <a:effectLst/>
              </a:rPr>
              <a:t>true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changepoint_prior_scale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1750EB"/>
                </a:solidFill>
                <a:effectLst/>
              </a:rPr>
              <a:t>0.05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seasonality_prior_scale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1750EB"/>
                </a:solidFill>
                <a:effectLst/>
              </a:rPr>
              <a:t>10.0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changepoint_range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1750EB"/>
                </a:solidFill>
                <a:effectLst/>
              </a:rPr>
              <a:t>0.8</a:t>
            </a:r>
            <a:br>
              <a:rPr lang="en-US" dirty="0">
                <a:solidFill>
                  <a:srgbClr val="1750EB"/>
                </a:solidFill>
                <a:effectLst/>
              </a:rPr>
            </a:br>
            <a:r>
              <a:rPr lang="en-US" dirty="0">
                <a:solidFill>
                  <a:srgbClr val="1750EB"/>
                </a:solidFill>
                <a:effectLst/>
              </a:rPr>
              <a:t>  </a:t>
            </a:r>
            <a:r>
              <a:rPr lang="en-US" dirty="0"/>
              <a:t>},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>
                <a:solidFill>
                  <a:srgbClr val="871094"/>
                </a:solidFill>
                <a:effectLst/>
              </a:rPr>
              <a:t>"optimized"</a:t>
            </a:r>
            <a:r>
              <a:rPr lang="en-US" dirty="0"/>
              <a:t>: </a:t>
            </a:r>
            <a:r>
              <a:rPr lang="en-US" dirty="0">
                <a:solidFill>
                  <a:srgbClr val="0033B3"/>
                </a:solidFill>
                <a:effectLst/>
              </a:rPr>
              <a:t>false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optimized_params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</a:t>
            </a:r>
            <a:r>
              <a:rPr lang="en-US" dirty="0">
                <a:solidFill>
                  <a:srgbClr val="0033B3"/>
                </a:solidFill>
                <a:effectLst/>
              </a:rPr>
              <a:t>null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 err="1">
                <a:solidFill>
                  <a:srgbClr val="871094"/>
                </a:solidFill>
                <a:effectLst/>
              </a:rPr>
              <a:t>added_seasonalities</a:t>
            </a:r>
            <a:r>
              <a:rPr lang="en-US" dirty="0">
                <a:solidFill>
                  <a:srgbClr val="871094"/>
                </a:solidFill>
                <a:effectLst/>
              </a:rPr>
              <a:t>"</a:t>
            </a:r>
            <a:r>
              <a:rPr lang="en-US" dirty="0"/>
              <a:t>: []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0341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B1997D-6FEF-3685-9CB6-6CE7830C5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70721"/>
            <a:ext cx="7772400" cy="5116558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F5E3F19-DA5F-8134-60A4-436A3C244D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009265"/>
              </p:ext>
            </p:extLst>
          </p:nvPr>
        </p:nvGraphicFramePr>
        <p:xfrm>
          <a:off x="3933715" y="6110397"/>
          <a:ext cx="4051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051300" imgH="393700" progId="Excel.Sheet.12">
                  <p:embed/>
                </p:oleObj>
              </mc:Choice>
              <mc:Fallback>
                <p:oleObj name="Worksheet" r:id="rId3" imgW="4051300" imgH="393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33715" y="6110397"/>
                        <a:ext cx="4051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274009-84D1-22FB-D13F-E254419C93CD}"/>
              </a:ext>
            </a:extLst>
          </p:cNvPr>
          <p:cNvSpPr txBox="1"/>
          <p:nvPr/>
        </p:nvSpPr>
        <p:spPr>
          <a:xfrm>
            <a:off x="2209800" y="6110397"/>
            <a:ext cx="2228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DataLake-DBN1</a:t>
            </a:r>
            <a:endParaRPr lang="ru-RU" dirty="0"/>
          </a:p>
          <a:p>
            <a:r>
              <a:rPr lang="en-US" dirty="0" err="1"/>
              <a:t>cpu.usage.average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914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F0CC43-DCF6-F7A2-97E9-78579AAFD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667" y="233392"/>
            <a:ext cx="6508271" cy="639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579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507F5-6676-1085-5EB8-BAE12B642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65" y="1954923"/>
            <a:ext cx="11373670" cy="215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70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79897E-9FC7-08CE-D6F1-369764254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5438"/>
            <a:ext cx="7772400" cy="620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843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5DA45F-75D9-1040-7373-E8E129BAC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892" y="406400"/>
            <a:ext cx="5442216" cy="51851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13E215-97DC-CCEC-62D0-01BC49EAD6A9}"/>
              </a:ext>
            </a:extLst>
          </p:cNvPr>
          <p:cNvSpPr txBox="1"/>
          <p:nvPr/>
        </p:nvSpPr>
        <p:spPr>
          <a:xfrm>
            <a:off x="3374892" y="57879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-apple-system"/>
              </a:rPr>
              <a:t>Swagger UI:</a:t>
            </a:r>
            <a:r>
              <a:rPr lang="en-US" b="0" i="0" dirty="0">
                <a:effectLst/>
                <a:latin typeface="-apple-system"/>
              </a:rPr>
              <a:t> http://localhost:8000/docs</a:t>
            </a:r>
          </a:p>
        </p:txBody>
      </p:sp>
    </p:spTree>
    <p:extLst>
      <p:ext uri="{BB962C8B-B14F-4D97-AF65-F5344CB8AC3E}">
        <p14:creationId xmlns:p14="http://schemas.microsoft.com/office/powerpoint/2010/main" val="2985571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CB4C1-1E09-A006-BAAE-ADEC58EC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дальше?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83C68-7AE6-30DD-0769-9789353B9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более полных данных (больше объем) поэкспериментировать с различными моделями машинного обучения для выбора наиболее точной</a:t>
            </a:r>
            <a:r>
              <a:rPr lang="en-US" dirty="0"/>
              <a:t>. </a:t>
            </a:r>
            <a:r>
              <a:rPr lang="ru-RU" dirty="0"/>
              <a:t>Показатели качества </a:t>
            </a:r>
            <a:r>
              <a:rPr lang="en-US" dirty="0"/>
              <a:t>Prophet </a:t>
            </a:r>
            <a:r>
              <a:rPr lang="ru-RU" dirty="0"/>
              <a:t>можно взять за </a:t>
            </a:r>
            <a:r>
              <a:rPr lang="ru-RU" dirty="0" err="1"/>
              <a:t>бейзлайн</a:t>
            </a:r>
            <a:r>
              <a:rPr lang="en-US" dirty="0"/>
              <a:t>, </a:t>
            </a:r>
            <a:r>
              <a:rPr lang="ru-RU" dirty="0"/>
              <a:t>поэкспериментировать с такими моделями как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 Prophet Neural</a:t>
            </a:r>
          </a:p>
          <a:p>
            <a:pPr marL="0" indent="0">
              <a:buNone/>
            </a:pPr>
            <a:r>
              <a:rPr lang="en-US" dirty="0"/>
              <a:t>– SARIMA/ARIMA</a:t>
            </a:r>
          </a:p>
          <a:p>
            <a:pPr marL="0" indent="0">
              <a:buNone/>
            </a:pPr>
            <a:r>
              <a:rPr lang="en-US" dirty="0"/>
              <a:t>– 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 + feature engineering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735524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3866</TotalTime>
  <Words>1107</Words>
  <Application>Microsoft Macintosh PowerPoint</Application>
  <PresentationFormat>Widescreen</PresentationFormat>
  <Paragraphs>64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-apple-system</vt:lpstr>
      <vt:lpstr>Arial</vt:lpstr>
      <vt:lpstr>Gill Sans MT</vt:lpstr>
      <vt:lpstr>quote-cjk-patch</vt:lpstr>
      <vt:lpstr>Parcel</vt:lpstr>
      <vt:lpstr>Worksheet</vt:lpstr>
      <vt:lpstr>Виртуальные сервера</vt:lpstr>
      <vt:lpstr>Данные</vt:lpstr>
      <vt:lpstr>Правила Алертов</vt:lpstr>
      <vt:lpstr>PowerPoint Presentation</vt:lpstr>
      <vt:lpstr>Как Спрогнозировать нагрузку?</vt:lpstr>
      <vt:lpstr>Prophet</vt:lpstr>
      <vt:lpstr>Что делает модель Prophet?</vt:lpstr>
      <vt:lpstr>MAPE (Mean Absolute Percentage Error)</vt:lpstr>
      <vt:lpstr>Критерии хорошей модели Prophet:</vt:lpstr>
      <vt:lpstr>Оценка Модели</vt:lpstr>
      <vt:lpstr>MODEL Tuning</vt:lpstr>
      <vt:lpstr>Прогноз на следующие 24 часа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Что дальше?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5</cp:revision>
  <dcterms:created xsi:type="dcterms:W3CDTF">2025-12-23T13:26:21Z</dcterms:created>
  <dcterms:modified xsi:type="dcterms:W3CDTF">2025-12-30T06:44:39Z</dcterms:modified>
</cp:coreProperties>
</file>